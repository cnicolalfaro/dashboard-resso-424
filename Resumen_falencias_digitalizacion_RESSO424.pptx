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E8F0FA"/>
          </a:solidFill>
          <a:ln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4407A"/>
                </a:solidFill>
              </a:rPr>
              <a:t>Falencias actuales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D6B82"/>
                </a:solidFill>
              </a:rPr>
              <a:t>Diagn?stico para justificar la digitalizaci?n y el ordenamiento de la gesti?n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84048"/>
            <a:ext cx="1828800" cy="384048"/>
          </a:xfrm>
          <a:prstGeom prst="round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Enfoque gerencial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4407A"/>
                </a:solidFill>
              </a:rPr>
              <a:t>Brechas de informaci?n 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Informaci?n dispersa en planillas, correos y respaldos f?sicos: no existe una fuente ?nica de verdad.</a:t>
            </a:r>
          </a:p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El cruce de incidentes, medidas, evidencias y responsables se realiza manualmente, elevando el tiempo de consolidaci?n.</a:t>
            </a:r>
          </a:p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La trazabilidad documental es limitada: versiones, estados y relaciones entre registros no siempre son consistentes.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4407A"/>
                </a:solidFill>
              </a:rPr>
              <a:t>Limitaciones operativas actuales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84831"/>
            <a:ext cx="45720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Uso excesivo de papel y duplicidad de registros, con riesgo de p?rdida de antecedentes y baja disponibilidad.</a:t>
            </a:r>
          </a:p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La validaci?n depende de revisi?n manual, aumentando la probabilidad de errores, omisiones y reprocesos.</a:t>
            </a:r>
          </a:p>
          <a:p>
            <a:pPr>
              <a:spcAft>
                <a:spcPts val="800"/>
              </a:spcAft>
              <a:defRPr sz="1800">
                <a:solidFill>
                  <a:srgbClr val="1F2733"/>
                </a:solidFill>
                <a:latin typeface="Arial"/>
              </a:defRPr>
            </a:pPr>
            <a:r>
              <a:t>La informaci?n llega tarde para la toma de decisiones, restringiendo el an?lisis oportuno de tendencias y brechas.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72200"/>
            <a:ext cx="11064240" cy="411480"/>
          </a:xfrm>
          <a:prstGeom prst="roundRect">
            <a:avLst/>
          </a:prstGeom>
          <a:solidFill>
            <a:srgbClr val="F5F8FC"/>
          </a:solidFill>
          <a:ln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D6B82"/>
                </a:solidFill>
              </a:rPr>
              <a:t>Resultado: el sistema actual consume tiempo, depende de revisi?n manual y no ofrece trazabilidad suficiente para una gesti?n eficiente.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ECF4FF"/>
          </a:solidFill>
          <a:ln>
            <a:solidFill>
              <a:srgbClr val="EC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4407A"/>
                </a:solidFill>
              </a:rPr>
              <a:t>Justificaci?n estrat?gica para digitalizar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D6B82"/>
                </a:solidFill>
              </a:rPr>
              <a:t>La digitalizaci?n transforma datos dispersos en control, trazabilidad e inteligencia de gesti?n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84048"/>
            <a:ext cx="1920240" cy="384048"/>
          </a:xfrm>
          <a:prstGeom prst="round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Propuesta de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28016" cy="1417320"/>
          </a:xfrm>
          <a:prstGeom prst="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4407A"/>
                </a:solidFill>
              </a:rPr>
              <a:t>Centralizaci?n</a:t>
            </a:r>
          </a:p>
          <a:p>
            <a:pPr>
              <a:defRPr sz="1450">
                <a:solidFill>
                  <a:srgbClr val="1F2733"/>
                </a:solidFill>
              </a:defRPr>
            </a:pPr>
            <a:r>
              <a:t>Una sola plataforma integra incidentes, medidas, evidencias y seguimiento.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128016" cy="1417320"/>
          </a:xfrm>
          <a:prstGeom prst="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4407A"/>
                </a:solidFill>
              </a:rPr>
              <a:t>Crucie autom?tico</a:t>
            </a:r>
          </a:p>
          <a:p>
            <a:pPr>
              <a:defRPr sz="1450">
                <a:solidFill>
                  <a:srgbClr val="1F2733"/>
                </a:solidFill>
              </a:defRPr>
            </a:pPr>
            <a:r>
              <a:t>Relaciona datos sin consolidaci?n manual, reduciendo tiempos y errores.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128016" cy="1417320"/>
          </a:xfrm>
          <a:prstGeom prst="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10712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4407A"/>
                </a:solidFill>
              </a:rPr>
              <a:t>Menos papel</a:t>
            </a:r>
          </a:p>
          <a:p>
            <a:pPr>
              <a:defRPr sz="1450">
                <a:solidFill>
                  <a:srgbClr val="1F2733"/>
                </a:solidFill>
              </a:defRPr>
            </a:pPr>
            <a:r>
              <a:t>Disminuye impresi?n, almacenamiento f?sico y duplicidad documental.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246120"/>
            <a:ext cx="128016" cy="1417320"/>
          </a:xfrm>
          <a:prstGeom prst="rect">
            <a:avLst/>
          </a:prstGeom>
          <a:solidFill>
            <a:srgbClr val="24407A"/>
          </a:solidFill>
          <a:ln>
            <a:solidFill>
              <a:srgbClr val="24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410712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4407A"/>
                </a:solidFill>
              </a:rPr>
              <a:t>Trazabilidad</a:t>
            </a:r>
          </a:p>
          <a:p>
            <a:pPr>
              <a:defRPr sz="1450">
                <a:solidFill>
                  <a:srgbClr val="1F2733"/>
                </a:solidFill>
              </a:defRPr>
            </a:pPr>
            <a:r>
              <a:t>Cada registro mantiene historial, estado y responsables con mayor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11064240" cy="1234440"/>
          </a:xfrm>
          <a:prstGeom prst="roundRect">
            <a:avLst/>
          </a:prstGeom>
          <a:solidFill>
            <a:srgbClr val="F8FAFD"/>
          </a:solidFill>
          <a:ln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50" b="1">
                <a:solidFill>
                  <a:srgbClr val="E1251B"/>
                </a:solidFill>
              </a:rPr>
              <a:t>Conclusi?n gerencial: digitalizar no es solo optimizar el formato; es elevar la madurez del sistema, mejorar el control y habilitar decisiones basadas en datos confiables y disponibles en tiempo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